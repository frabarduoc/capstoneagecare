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RABW+iy3Ev8rX8hsAaRXpQUdm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237baf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a237baf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https://www.figma.com/make/Rg7cx49DWyUHHhQ1Ua1FBI/AGECARE---Primeros-mock-ups?t=eccnN7TypQvwRhCn-0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a237bafe3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a237bafe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https://www.figma.com/make/Rg7cx49DWyUHHhQ1Ua1FBI/AGECARE---Primeros-mock-ups?t=eccnN7TypQvwRhCn-0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483134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938" y="3927474"/>
            <a:ext cx="1384125" cy="258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Claudia Iosue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Franco Barra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Varas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 developer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SzPts val="1100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Poco orden y 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el monitoreo de salud, las alertas, la coordinación del cuidado y la comunicación entre familiares, cuidadores y médicos de un adulto mayor en plena era digital. Poca oferta de espacios centralizados para familiares de adultos mayores a distancia.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</a:t>
            </a: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cionar a las familias información confiable y en tiempo real sobre el bienestar de su ser querido, y al adulto mayor un medio accesible para mantenerse conectado, acompañado y activo. Ficha clínica digital.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4" name="Google Shape;124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digital integral de cuidado de adultos mayores que centralice el monitoreo de salud, las alertas, la coordinación del cuidado y la comunicación entre familiares, cuidadores, médicos y el propio adulto mayor, con el fin de proporcionar a las familias que cuidan a distancia información confiable y en tiempo real sobre el bienestar de su ser querido, y al adulto mayor un medio accesible para mantenerse conectado, acompañado y activo.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04725" y="4728775"/>
            <a:ext cx="11608800" cy="196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27050" lvl="0" marL="45720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4E5F"/>
              </a:buClr>
              <a:buSzPts val="1100"/>
              <a:buFont typeface="Calibri"/>
              <a:buAutoNum type="arabicPeriod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Consolidar en un expediente único y compartido la información de salud del adulto mayor —signos vitales del wearable, adherencia a medicamentos, observaciones de la cuidadora, incidentes y documentos médicos—, presentada mediante un semáforo de bienestar diario por paciente y con soporte multi-paciente.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7050" lvl="0" marL="457200" rtl="0" algn="just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rgbClr val="1F4E5F"/>
              </a:buClr>
              <a:buSzPts val="1100"/>
              <a:buFont typeface="Calibri"/>
              <a:buAutoNum type="arabicPeriod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de alertas en tiempo real, con notificaciones push y umbrales configurables, que detecte y comunique los eventos críticos del cuidado: caída detectada, signo vital fuera de rango y medicamento no administrado, incluyendo un flujo de acción inmediata ante caídas y un botón SOS.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27050" lvl="0" marL="457200" rtl="0" algn="just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rgbClr val="1F4E5F"/>
              </a:buClr>
              <a:buSzPts val="1100"/>
              <a:buFont typeface="Calibri"/>
              <a:buAutoNum type="arabicPeriod"/>
            </a:pPr>
            <a:r>
              <a:rPr lang="es-CL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el ciclo completo de la medicación: definición del plan por la cuidadora o el médico, digitalización de recetas mediante OCR, alarmas de tomas, confirmación de dosis y visualización de la adherencia por parte del familiar.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5" name="Google Shape;135;p5"/>
          <p:cNvSpPr txBox="1"/>
          <p:nvPr/>
        </p:nvSpPr>
        <p:spPr>
          <a:xfrm>
            <a:off x="1013275" y="2467200"/>
            <a:ext cx="99195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Alcance: Desarrollo de frontend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plan lleva la versión 1 completa de AgeCare desde cero hasta el envío a App Store y Google Play en 10 semanas (2.5 meses), con un piloto con usuarios reales a partir de la semana 8. El alcance cubre todo el documento de funcionalidades v1: monitoreo de salud, alertas, medicamentos, comunicación (chat + asistente IA), vista del adulto mayor, vista de la cuidadora con freemium, marketplace vitrina y web de administración.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 Desarrollo de backend por parte de otro grupo, dependencias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0725" y="5694000"/>
            <a:ext cx="4288275" cy="5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5" name="Google Shape;145;p6"/>
          <p:cNvSpPr txBox="1"/>
          <p:nvPr/>
        </p:nvSpPr>
        <p:spPr>
          <a:xfrm>
            <a:off x="1108300" y="2665940"/>
            <a:ext cx="9945300" cy="3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chemeClr val="dk1"/>
                </a:solidFill>
              </a:rPr>
              <a:t>Scrum</a:t>
            </a:r>
            <a:r>
              <a:rPr lang="es-CL" sz="1200">
                <a:solidFill>
                  <a:schemeClr val="dk1"/>
                </a:solidFill>
              </a:rPr>
              <a:t> con sprints semanales, alineados a los tickets ya definidos por la empresa (Alloxentric/Wellq Co) en su Plan de Desarrollo v1 — no redactamos historias desde cero, tomamos los tickets identificados como </a:t>
            </a:r>
            <a:r>
              <a:rPr lang="es-CL" sz="1200">
                <a:solidFill>
                  <a:srgbClr val="188038"/>
                </a:solidFill>
              </a:rPr>
              <a:t>AGE-XXX</a:t>
            </a:r>
            <a:r>
              <a:rPr lang="es-CL" sz="1200">
                <a:solidFill>
                  <a:schemeClr val="dk1"/>
                </a:solidFill>
              </a:rPr>
              <a:t> que corresponden al rol </a:t>
            </a:r>
            <a:r>
              <a:rPr b="1" lang="es-CL" sz="1200">
                <a:solidFill>
                  <a:schemeClr val="dk1"/>
                </a:solidFill>
              </a:rPr>
              <a:t>APP/APP-R</a:t>
            </a:r>
            <a:r>
              <a:rPr lang="es-CL" sz="1200">
                <a:solidFill>
                  <a:schemeClr val="dk1"/>
                </a:solidFill>
              </a:rPr>
              <a:t> (frontend móvil), ya que backend y panel web los desarrolla otro equipo.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Trabajo organizado </a:t>
            </a:r>
            <a:r>
              <a:rPr b="1" lang="es-CL" sz="1200">
                <a:solidFill>
                  <a:schemeClr val="dk1"/>
                </a:solidFill>
              </a:rPr>
              <a:t>por épica</a:t>
            </a:r>
            <a:r>
              <a:rPr lang="es-CL" sz="1200">
                <a:solidFill>
                  <a:schemeClr val="dk1"/>
                </a:solidFill>
              </a:rPr>
              <a:t> (EP-02 Autenticación, EP-04 Vitals/wearable, EP-05 Medicamentos, EP-06 Alertas/SOS, EP-07 Bitácora, EP-08 Chat, EP-09 Asistente IA, EP-10 Vista adulto mayor, EP-11 Cuidadora/freemium), cada una con sus tickets ya especificados (criterios de aceptación incluidos).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Ceremonias: planning semanal, daily stand-up corto (async si no calza el horario), review/demo al cierre del sprint, retrospectiva.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Seguimiento en </a:t>
            </a:r>
            <a:r>
              <a:rPr b="1" lang="es-CL" sz="1200">
                <a:solidFill>
                  <a:schemeClr val="dk1"/>
                </a:solidFill>
              </a:rPr>
              <a:t>Jira</a:t>
            </a:r>
            <a:r>
              <a:rPr lang="es-CL" sz="1200">
                <a:solidFill>
                  <a:schemeClr val="dk1"/>
                </a:solidFill>
              </a:rPr>
              <a:t> (tablero SCRUM) y versionado en </a:t>
            </a:r>
            <a:r>
              <a:rPr b="1" lang="es-CL" sz="1200">
                <a:solidFill>
                  <a:schemeClr val="dk1"/>
                </a:solidFill>
              </a:rPr>
              <a:t>Git</a:t>
            </a:r>
            <a:r>
              <a:rPr lang="es-CL" sz="1200">
                <a:solidFill>
                  <a:schemeClr val="dk1"/>
                </a:solidFill>
              </a:rPr>
              <a:t> (rama por ticket, PR revisado antes de integrar).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Desarrollo </a:t>
            </a:r>
            <a:r>
              <a:rPr b="1" lang="es-CL" sz="1200">
                <a:solidFill>
                  <a:schemeClr val="dk1"/>
                </a:solidFill>
              </a:rPr>
              <a:t>contra mocks primero</a:t>
            </a:r>
            <a:r>
              <a:rPr lang="es-CL" sz="1200">
                <a:solidFill>
                  <a:schemeClr val="dk1"/>
                </a:solidFill>
              </a:rPr>
              <a:t> (</a:t>
            </a:r>
            <a:r>
              <a:rPr lang="es-CL" sz="1200">
                <a:solidFill>
                  <a:srgbClr val="188038"/>
                </a:solidFill>
              </a:rPr>
              <a:t>USE_MOCKS=true</a:t>
            </a:r>
            <a:r>
              <a:rPr lang="es-CL" sz="1200">
                <a:solidFill>
                  <a:schemeClr val="dk1"/>
                </a:solidFill>
              </a:rPr>
              <a:t>, ya incluido en el código base) mientras el equipo de backend entrega la API real descrita en la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</a:rPr>
              <a:t>Especificación de Endpoints v1; migración a </a:t>
            </a:r>
            <a:r>
              <a:rPr lang="es-CL" sz="1200">
                <a:solidFill>
                  <a:srgbClr val="188038"/>
                </a:solidFill>
              </a:rPr>
              <a:t>USE_MOCKS=false</a:t>
            </a:r>
            <a:r>
              <a:rPr lang="es-CL" sz="1200">
                <a:solidFill>
                  <a:schemeClr val="dk1"/>
                </a:solidFill>
              </a:rPr>
              <a:t> cuando el endpoint correspondiente esté disponible.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Entregas continuas: build de demostración desplegada (Flutter Web) para que la empresa monitoree el avance entre reuniones, según lo acordado en la primera reunión con Alloxentric.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>
                <a:solidFill>
                  <a:schemeClr val="dk1"/>
                </a:solidFill>
              </a:rPr>
              <a:t>Entregas continuas: build de demostración desplegada (Flutter Web) para que la empresa monitoree el avance entre reuniones, según lo acordado en la primera reunión con Alloxentric. 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AGECARE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o Release Plan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4" name="Google Shape;15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325" y="2445826"/>
            <a:ext cx="6840201" cy="37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0" y="1432655"/>
            <a:ext cx="12192000" cy="2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Arquitectura ya definida en el código base (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agecare_app</a:t>
            </a:r>
            <a:r>
              <a:rPr lang="es-CL" sz="1100">
                <a:solidFill>
                  <a:schemeClr val="dk1"/>
                </a:solidFill>
              </a:rPr>
              <a:t>), por capas dentro de cada feature: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Presentation</a:t>
            </a:r>
            <a:r>
              <a:rPr lang="es-CL" sz="1100">
                <a:solidFill>
                  <a:schemeClr val="dk1"/>
                </a:solidFill>
              </a:rPr>
              <a:t> — pantallas y widgets (Material 3, tokens de diseño en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core/theme/app_theme.dart</a:t>
            </a:r>
            <a:r>
              <a:rPr lang="es-CL" sz="1100">
                <a:solidFill>
                  <a:schemeClr val="dk1"/>
                </a:solidFill>
              </a:rPr>
              <a:t>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Application</a:t>
            </a:r>
            <a:r>
              <a:rPr lang="es-CL" sz="1100">
                <a:solidFill>
                  <a:schemeClr val="dk1"/>
                </a:solidFill>
              </a:rPr>
              <a:t> — providers de </a:t>
            </a:r>
            <a:r>
              <a:rPr b="1" lang="es-CL" sz="1100">
                <a:solidFill>
                  <a:schemeClr val="dk1"/>
                </a:solidFill>
              </a:rPr>
              <a:t>Riverpod</a:t>
            </a:r>
            <a:r>
              <a:rPr lang="es-CL" sz="1100">
                <a:solidFill>
                  <a:schemeClr val="dk1"/>
                </a:solidFill>
              </a:rPr>
              <a:t> (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FutureProvider</a:t>
            </a:r>
            <a:r>
              <a:rPr lang="es-CL" sz="1100">
                <a:solidFill>
                  <a:schemeClr val="dk1"/>
                </a:solidFill>
              </a:rPr>
              <a:t> para lecturas,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Notifier</a:t>
            </a:r>
            <a:r>
              <a:rPr lang="es-CL" sz="1100">
                <a:solidFill>
                  <a:schemeClr val="dk1"/>
                </a:solidFill>
              </a:rPr>
              <a:t> para estado global como sesión y paciente seleccionado).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Domain</a:t>
            </a:r>
            <a:r>
              <a:rPr lang="es-CL" sz="1100">
                <a:solidFill>
                  <a:schemeClr val="dk1"/>
                </a:solidFill>
              </a:rPr>
              <a:t> — modelos de datos de cada feature.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Data</a:t>
            </a:r>
            <a:r>
              <a:rPr lang="es-CL" sz="1100">
                <a:solidFill>
                  <a:schemeClr val="dk1"/>
                </a:solidFill>
              </a:rPr>
              <a:t> — patrón Repository con dos implementaciones intercambiables: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...Http</a:t>
            </a:r>
            <a:r>
              <a:rPr lang="es-CL" sz="1100">
                <a:solidFill>
                  <a:schemeClr val="dk1"/>
                </a:solidFill>
              </a:rPr>
              <a:t> (backend real) y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...Mock</a:t>
            </a:r>
            <a:r>
              <a:rPr lang="es-CL" sz="1100">
                <a:solidFill>
                  <a:schemeClr val="dk1"/>
                </a:solidFill>
              </a:rPr>
              <a:t> (datos en memoria), seleccionadas por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AppConfig.useMocks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Navegación</a:t>
            </a:r>
            <a:r>
              <a:rPr lang="es-CL" sz="1100">
                <a:solidFill>
                  <a:schemeClr val="dk1"/>
                </a:solidFill>
              </a:rPr>
              <a:t>: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go_router</a:t>
            </a:r>
            <a:r>
              <a:rPr lang="es-CL" sz="1100">
                <a:solidFill>
                  <a:schemeClr val="dk1"/>
                </a:solidFill>
              </a:rPr>
              <a:t>, con control de sesión y rutas de detalle;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MainShell</a:t>
            </a:r>
            <a:r>
              <a:rPr lang="es-CL" sz="1100">
                <a:solidFill>
                  <a:schemeClr val="dk1"/>
                </a:solidFill>
              </a:rPr>
              <a:t> decide la navegación inferior según el rol (familiar, cuidadora, adulto mayor).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Red</a:t>
            </a:r>
            <a:r>
              <a:rPr lang="es-CL" sz="1100">
                <a:solidFill>
                  <a:schemeClr val="dk1"/>
                </a:solidFill>
              </a:rPr>
              <a:t>: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dio</a:t>
            </a:r>
            <a:r>
              <a:rPr lang="es-CL" sz="1100">
                <a:solidFill>
                  <a:schemeClr val="dk1"/>
                </a:solidFill>
              </a:rPr>
              <a:t> encapsulado en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ApiClient</a:t>
            </a:r>
            <a:r>
              <a:rPr lang="es-CL" sz="1100">
                <a:solidFill>
                  <a:schemeClr val="dk1"/>
                </a:solidFill>
              </a:rPr>
              <a:t> — agrega prefijo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/api/v1</a:t>
            </a:r>
            <a:r>
              <a:rPr lang="es-CL" sz="1100">
                <a:solidFill>
                  <a:schemeClr val="dk1"/>
                </a:solidFill>
              </a:rPr>
              <a:t>, bearer token, y renueva el access token automáticamente ante un 401.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-CL" sz="1100">
                <a:solidFill>
                  <a:schemeClr val="dk1"/>
                </a:solidFill>
              </a:rPr>
              <a:t>Integraciones externas</a:t>
            </a:r>
            <a:r>
              <a:rPr lang="es-CL" sz="1100">
                <a:solidFill>
                  <a:schemeClr val="dk1"/>
                </a:solidFill>
              </a:rPr>
              <a:t>: Spike SDK (wearables), Firebase/FCM + notificaciones locales (alertas y recordatorios de medicación), </a:t>
            </a:r>
            <a:r>
              <a:rPr lang="es-CL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flutter_secure_storage</a:t>
            </a:r>
            <a:r>
              <a:rPr lang="es-CL" sz="1100">
                <a:solidFill>
                  <a:schemeClr val="dk1"/>
                </a:solidFill>
              </a:rPr>
              <a:t> (tokens).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3" name="Google Shape;16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0025" y="3828250"/>
            <a:ext cx="4144326" cy="27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8" name="Google Shape;1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AGECARE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1" name="Google Shape;171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2" name="Google Shape;17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038" y="2078986"/>
            <a:ext cx="10069437" cy="447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AGECARE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0" name="Google Shape;180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1" name="Google Shape;181;p10"/>
          <p:cNvSpPr txBox="1"/>
          <p:nvPr/>
        </p:nvSpPr>
        <p:spPr>
          <a:xfrm>
            <a:off x="918225" y="2467200"/>
            <a:ext cx="103602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-CL" sz="1100">
                <a:solidFill>
                  <a:schemeClr val="dk1"/>
                </a:solidFill>
              </a:rPr>
              <a:t>Frontend: App móvil (nuestro alcance)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Flutter (iOS y Android)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Riverpod - gestión de estado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go_router - navegación por rol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dio - cliente HTTP (token JWT, auto-renovación)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Spike SDK - integración con wearables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Firebase / FCM - notificaciones push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flutter_secure_storage -  almacenamiento seguro de credenciales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-CL" sz="1100">
                <a:solidFill>
                  <a:schemeClr val="dk1"/>
                </a:solidFill>
              </a:rPr>
              <a:t>Backend: contrato consumido (otro equipo)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FastAPI (Python 3.12) + PostgreSQL (Azure)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Autenticación JWT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Azure AI Document Intelligence - OCR de recetas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LLM (Azure OpenAI / Claude) - asistente IA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-CL" sz="1100">
                <a:solidFill>
                  <a:schemeClr val="dk1"/>
                </a:solidFill>
              </a:rPr>
              <a:t>Entrega continua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Git + GitHub Actions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Build de demostración en Vercel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fa237bafe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050" y="403000"/>
            <a:ext cx="3504717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fa237bafe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1542" y="359775"/>
            <a:ext cx="3202011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fa237bafe3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753" y="293788"/>
            <a:ext cx="3485967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fa237bafe3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9150" y="191250"/>
            <a:ext cx="3387126" cy="666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8" name="Google Shape;1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